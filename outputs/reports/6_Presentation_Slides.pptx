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HealthConnect Rwanda: Healthcare Predictive Analytics &amp; Population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EBF2FC"/>
                </a:solidFill>
              </a:defRPr>
            </a:pPr>
            <a:r>
              <a:t>AnalystLab Africa · Experience Lab Week 6 · Data Science Track</a:t>
            </a:r>
          </a:p>
          <a:p>
            <a:pPr>
              <a:spcAft>
                <a:spcPts val="800"/>
              </a:spcAft>
              <a:defRPr sz="2000" b="0">
                <a:solidFill>
                  <a:srgbClr val="EBF2FC"/>
                </a:solidFill>
              </a:defRPr>
            </a:pPr>
            <a:r>
              <a:t>Findings, models and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Context and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22 source files (31 tables): 20,000 patients, 5,000 appointments, 60,000 bills, 20 facilities, 1,250 staff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Goal: assess whether the data support demand forecasting, risk prediction and resource planning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Approach: clean and integrate, explore, test hypotheses, model, then recommend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Every model is compared with a naive baseline and a permutation null, so only real signal is reported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Privacy: names, phones and emergency contacts excluded from all exports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Data quality: structurally inconsistent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108 checks: 8 critical, 14 high, 10 medium, 2 low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Only 5,000 of 60,000 billed visits have an appointment record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95% of appointments reference a department/doctor from another facility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80% of bills are paid in full whatever 'Status' says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Revenue summary 1.13 bn vs billing 9.31 bn RWF: no reconciliation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Rows are clean (few missing values); links between tables are 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Who are the patients?</a:t>
            </a:r>
          </a:p>
        </p:txBody>
      </p:sp>
      <p:pic>
        <p:nvPicPr>
          <p:cNvPr id="4" name="Picture 3" descr="f01_patient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004221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Mean age 45; near 50/50 gender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75% have a chronic condition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33% meet the high-risk rule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Evenly spread across 5 provinces; 100% insured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Revenue and collections</a:t>
            </a:r>
          </a:p>
        </p:txBody>
      </p:sp>
      <p:pic>
        <p:nvPicPr>
          <p:cNvPr id="4" name="Picture 3" descr="f14_billing_claims_pay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680960" cy="4601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Billed 9.31 bn RWF, paid 8.39 bn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0.92 bn outstanding (0.1%)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50% claim approval; 21,028 claims pending (2.44 bn)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No difference between insurers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Patient experience</a:t>
            </a:r>
          </a:p>
        </p:txBody>
      </p:sp>
      <p:pic>
        <p:nvPicPr>
          <p:cNvPr id="4" name="Picture 3" descr="f16_satisf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680960" cy="25517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Mean rating 2.99/5; 40% rate 1–2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Ratings spread evenly 1–5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Unrelated to comment text, diagnosis, billing, department or facility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Instrument needs redesign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Statistical testing</a:t>
            </a:r>
          </a:p>
        </p:txBody>
      </p:sp>
      <p:pic>
        <p:nvPicPr>
          <p:cNvPr id="4" name="Picture 3" descr="f26_hypothesi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680960" cy="436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15 hypothesis tests at α = 0.05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0 rejected after correction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Admission factors: none of 26 significant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Only strong correlation is mechanical (revenue vs volume)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Visit forecast, 2027</a:t>
            </a:r>
          </a:p>
        </p:txBody>
      </p:sp>
      <p:pic>
        <p:nvPicPr>
          <p:cNvPr id="4" name="Picture 3" descr="f27_forecast_vis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680960" cy="30215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≈4,975 visits/month (≈59,700/yr)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MAPE 14.0% vs 15.3% for the mean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No trend in 12 months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Plan on a flat baseline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Revenue forecast, 2027</a:t>
            </a:r>
          </a:p>
        </p:txBody>
      </p:sp>
      <p:pic>
        <p:nvPicPr>
          <p:cNvPr id="4" name="Picture 3" descr="f28_forecas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680960" cy="292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≈1.10 bn RWF (≈92 M/month)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MAPE 26%; 95% band ±68%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Sep-2026 peak and Dec-2026 trough need explaining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Budget flat with a contingency reserve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Admission prediction</a:t>
            </a:r>
          </a:p>
        </p:txBody>
      </p:sp>
      <p:pic>
        <p:nvPicPr>
          <p:cNvPr id="4" name="Picture 3" descr="f30_admissio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680960" cy="29314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Best CV AUC 0.51 (chance 0.50)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Permutation p = 0.32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Hold-out AUC 0.53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Diagnosis, labs, Rx add nothing: no usable signal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Satisfaction prediction</a:t>
            </a:r>
          </a:p>
        </p:txBody>
      </p:sp>
      <p:pic>
        <p:nvPicPr>
          <p:cNvPr id="4" name="Picture 3" descr="f32_satisfactio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680960" cy="2838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Best real-model R² -0.001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Worse than predicting the mean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Satisfaction drivers are not recorded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Collect wait time, courtesy, cleanliness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Facility clusters and workload</a:t>
            </a:r>
          </a:p>
        </p:txBody>
      </p:sp>
      <p:pic>
        <p:nvPicPr>
          <p:cNvPr id="4" name="Picture 3" descr="f34_facility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680960" cy="2933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Two peer groups, split by volume and load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Not quality or outcome groups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Staff 61–64 per site vs 28% volume spread</a:t>
            </a:r>
          </a:p>
          <a:p>
            <a:pPr>
              <a:spcAft>
                <a:spcPts val="800"/>
              </a:spcAft>
              <a:defRPr sz="1500" b="0">
                <a:solidFill>
                  <a:srgbClr val="1E252F"/>
                </a:solidFill>
              </a:defRPr>
            </a:pPr>
            <a:r>
              <a:t>• Cardiology and Radiology: highest forecast load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Recommendations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23760"/>
              </a:tblGrid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Action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 the data foundation before further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Re-extract Appointments for the full year; enforce Facility→Department→Doctor foreign keys; add Facility master, bed status and equipment condition fields.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Collect the outstanding balance and clear pending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Weekly ageing report on outstanding balances; dedicated follow-up team for pending claims; agree turnaround SLAs with all four insurers; 0.64 bn RWF of 'Insurance'-method payments have no claim on file — reconcile.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Make staffing follow patient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Move toward a staffing ratio per 1,000 appointments; rebalance rotas from the quietest sites toward HF013/HF011 as a pilot; review monthly with a rolling 3-month workload index.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Redesign the feedback instrument and capture real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Add wait time, staff courtesy, cleanliness, drug availability and discharge-time questions; validate comment/rating consistency; collect ≥ 348 ratings per facility to detect a 0.3-point difference with 80% power (currently ≈ 89).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Target outreach with a rule-based list, not a predictive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Call-back / screening programme for the high-risk list, prioritising patients aged 65+ with a chronic condition and no 2026 visit; evaluate uptake to validate the rule.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 not expand on current evidence — build the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Add facility geography (district, ownership, type) and ServiceID on bills; re-run province-level demand vs capacity once available. Prioritise Cardiology and Radiology for a staffing review (highest forecast load index, ≈105–109), but treat as provisional.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A78D6"/>
                </a:solidFill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Poor linkage between tables and 12 months of history limit what can be concluded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'No effect found' means none detectable in these data, not proof of absence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Next: fix data integrity, collect 24+ months, redesign feedback, add bed census and wait-time data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Then re-run the notebook: models and reports regenerate automatically</a:t>
            </a:r>
          </a:p>
          <a:p>
            <a:pPr>
              <a:spcAft>
                <a:spcPts val="800"/>
              </a:spcAft>
              <a:defRPr sz="2000" b="0">
                <a:solidFill>
                  <a:srgbClr val="1E252F"/>
                </a:solidFill>
              </a:defRPr>
            </a:pPr>
            <a:r>
              <a:t>• Deliverables: notebook, cleaned datasets, 4 reports, executive summary, 36 figures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